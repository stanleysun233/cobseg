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520440"/>
            <a:ext cx="11430000" cy="38100"/>
          </a:xfrm>
          <a:prstGeom prst="rect">
            <a:avLst/>
          </a:prstGeom>
          <a:solidFill>
            <a:srgbClr val="E8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边界感知双流融合的
有监督对话话题分割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B0C8E8"/>
                </a:solidFill>
                <a:latin typeface="Calibri"/>
              </a:rPr>
              <a:t>Boundary-Aware Dual-Stream Fusion for Supervised Dialogue Topic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520"/>
                </a:solidFill>
                <a:latin typeface="Calibri"/>
              </a:rPr>
              <a:t>Maritime NLP Research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43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8E8"/>
                </a:solidFill>
                <a:latin typeface="Calibri"/>
              </a:rPr>
              <a:t>Academic Conference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7"/>
                </a:solidFill>
                <a:latin typeface="Calibri"/>
              </a:rPr>
              <a:t>DualStreamSegmenter  |  UBIW  |  Coh/Bnd Keyword Injection  |  CRF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目录 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303520" cy="1280160"/>
          </a:xfrm>
          <a:prstGeom prst="rect">
            <a:avLst/>
          </a:prstGeom>
          <a:solidFill>
            <a:srgbClr val="1A2E5A"/>
          </a:solidFill>
          <a:ln w="19050">
            <a:solidFill>
              <a:srgbClr val="007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52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0759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研究背景与问题定义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013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E8"/>
                </a:solidFill>
                <a:latin typeface="Calibri"/>
              </a:rPr>
              <a:t>Background &amp; Problem Formulation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303520" cy="1280160"/>
          </a:xfrm>
          <a:prstGeom prst="rect">
            <a:avLst/>
          </a:prstGeom>
          <a:solidFill>
            <a:srgbClr val="1A2E5A"/>
          </a:solidFill>
          <a:ln w="19050">
            <a:solidFill>
              <a:srgbClr val="007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0759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52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30759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现有方法的局限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8013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E8"/>
                </a:solidFill>
                <a:latin typeface="Calibri"/>
              </a:rPr>
              <a:t>Limitations of Existing Methods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5303520" cy="1280160"/>
          </a:xfrm>
          <a:prstGeom prst="rect">
            <a:avLst/>
          </a:prstGeom>
          <a:solidFill>
            <a:srgbClr val="1A2E5A"/>
          </a:solidFill>
          <a:ln w="19050">
            <a:solidFill>
              <a:srgbClr val="007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163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520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163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DualStreamSegmenter 方法论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101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E8"/>
                </a:solidFill>
                <a:latin typeface="Calibri"/>
              </a:rPr>
              <a:t>Proposed Method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743200"/>
            <a:ext cx="5303520" cy="1280160"/>
          </a:xfrm>
          <a:prstGeom prst="rect">
            <a:avLst/>
          </a:prstGeom>
          <a:solidFill>
            <a:srgbClr val="1A2E5A"/>
          </a:solidFill>
          <a:ln w="19050">
            <a:solidFill>
              <a:srgbClr val="007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8163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520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8163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实验设置与结果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3101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E8"/>
                </a:solidFill>
                <a:latin typeface="Calibri"/>
              </a:rPr>
              <a:t>Experiments &amp; 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51960"/>
            <a:ext cx="5303520" cy="1280160"/>
          </a:xfrm>
          <a:prstGeom prst="rect">
            <a:avLst/>
          </a:prstGeom>
          <a:solidFill>
            <a:srgbClr val="1A2E5A"/>
          </a:solidFill>
          <a:ln w="19050">
            <a:solidFill>
              <a:srgbClr val="007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325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520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32511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消融分析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8188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E8"/>
                </a:solidFill>
                <a:latin typeface="Calibri"/>
              </a:rPr>
              <a:t>Ablation Study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251960"/>
            <a:ext cx="5303520" cy="1280160"/>
          </a:xfrm>
          <a:prstGeom prst="rect">
            <a:avLst/>
          </a:prstGeom>
          <a:solidFill>
            <a:srgbClr val="1A2E5A"/>
          </a:solidFill>
          <a:ln w="19050">
            <a:solidFill>
              <a:srgbClr val="007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3251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A520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32511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结论与展望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8188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E8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研究背景 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486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Dialogue Topic Segmentation (DTS)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30000" cy="12344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A520"/>
                </a:solidFill>
                <a:latin typeface="Calibri"/>
              </a:rPr>
              <a:t>任务定义  Task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给定一段多轮对话，识别话题切换的边界位置，将对话分解为语义内聚的片段序列。  ·  Given a multi-turn dialogue, predict segment boundaries to split it into coherent topic segments.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669280" cy="41148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196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7BA7"/>
                </a:solidFill>
                <a:latin typeface="Calibri"/>
              </a:rPr>
              <a:t>   A: 请问今天天气怎么样？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44368"/>
            <a:ext cx="5669280" cy="41148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951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7BA7"/>
                </a:solidFill>
                <a:latin typeface="Calibri"/>
              </a:rPr>
              <a:t>   B: 今天晴天，气温28度。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19856"/>
            <a:ext cx="5669280" cy="411480"/>
          </a:xfrm>
          <a:prstGeom prst="rect">
            <a:avLst/>
          </a:prstGeom>
          <a:solidFill>
            <a:srgbClr val="6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7065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A520"/>
                </a:solidFill>
                <a:latin typeface="Calibri"/>
              </a:rPr>
              <a:t>▶ A: 谢谢！对了，航行安全通告有更新吗？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4544"/>
            <a:ext cx="5669280" cy="3175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639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← Boundary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95344"/>
            <a:ext cx="5669280" cy="41148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461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7BA7"/>
                </a:solidFill>
                <a:latin typeface="Calibri"/>
              </a:rPr>
              <a:t>   B: 有的，航道北侧有礁石需注意。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23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5A"/>
                </a:solidFill>
                <a:latin typeface="Calibri"/>
              </a:rPr>
              <a:t>下游任务  Downstream Tasks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834640"/>
            <a:ext cx="2286000" cy="82296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880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对话摘要
Dialogue
Summarization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400" y="2834640"/>
            <a:ext cx="2286000" cy="82296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880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多轮问答
Multi-turn QA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840480"/>
            <a:ext cx="2286000" cy="82296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886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状态追踪
State Tracking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400" y="3840480"/>
            <a:ext cx="2286000" cy="82296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3886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信息抽取
Info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6577"/>
                </a:solidFill>
                <a:latin typeface="Calibri"/>
              </a:rPr>
              <a:t>评估指标：Pk↓（越低越好）   WindowDiff↓   Boundary F1↑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现有方法的局限  Limitations of Existing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9144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520"/>
                </a:solidFill>
                <a:latin typeface="Calibri"/>
              </a:rPr>
              <a:t>主流范式：BERT 句嵌入 → BiLSTM(+CRF) 序列标注预测边界标签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E8"/>
                </a:solidFill>
                <a:latin typeface="Calibri"/>
              </a:rPr>
              <a:t>Mainstream: BERT sentence embeddings → BiLSTM (+CRF) sequence labeling for boundary prediction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109728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局限一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889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Limitation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2194560"/>
            <a:ext cx="10241280" cy="11887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2402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520"/>
                </a:solidFill>
                <a:latin typeface="Calibri"/>
              </a:rPr>
              <a:t>词级边界线索缺失  Missing Token-Level Boundary Cues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63347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话语压缩为单一句向量，话语头尾词汇突变信号被平均稀释。
Per-utterance compression loses token distribution; boundary cues at utterance edges are diluted.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109728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49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局限二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605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Limitation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3566160"/>
            <a:ext cx="10241280" cy="11887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6118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520"/>
                </a:solidFill>
                <a:latin typeface="Calibri"/>
              </a:rPr>
              <a:t>话语重要性无差异建模  Uniform Utterance Weighting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00507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BiLSTM 对所有话语等权处理，边界信息量高的话语与普通话语无区分。
All utterances treated equally; boundary-informative utterances get no extra attention.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937760"/>
            <a:ext cx="109728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1206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局限三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532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Limitation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4937760"/>
            <a:ext cx="10241280" cy="11887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49834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520"/>
                </a:solidFill>
                <a:latin typeface="Calibri"/>
              </a:rPr>
              <a:t>领域词汇先验与神经决策割裂  Disconnected Domain Vocabulary Priors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37667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关键词作为独立预/后处理步骤，无法与模型参数联合端到端优化。
Keywords used as standalone pre/post-processing, not jointly optimized with model parameters.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方法概览  DualStreamSegmenter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640080" cy="146304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234440"/>
            <a:ext cx="10698480" cy="1463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2801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BA7"/>
                </a:solidFill>
                <a:latin typeface="Calibri"/>
              </a:rPr>
              <a:t>双流融合架构  /  Dual-Stream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09928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句级语义流 + 词级边界流
起始/终止双头联合建模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709928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E8"/>
                </a:solidFill>
                <a:latin typeface="Calibri"/>
              </a:rPr>
              <a:t>Sentence stream + Token stream
Start/End dual-head boundary modeling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640080" cy="1463040"/>
          </a:xfrm>
          <a:prstGeom prst="rect">
            <a:avLst/>
          </a:prstGeom>
          <a:solidFill>
            <a:srgbClr val="E8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429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926080"/>
            <a:ext cx="10698480" cy="1463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9718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A520"/>
                </a:solidFill>
                <a:latin typeface="Calibri"/>
              </a:rPr>
              <a:t>UBIW 自适应加权  /  Utterance Boundary Informativeness Weighting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01568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无额外监督，中心化残差放缩
边界距离衰减辅助目标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401568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E8"/>
                </a:solidFill>
                <a:latin typeface="Calibri"/>
              </a:rPr>
              <a:t>No extra labels; centered residual scaling
Boundary distance decay auxiliary loss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617720"/>
            <a:ext cx="640080" cy="146304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120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617720"/>
            <a:ext cx="10698480" cy="1463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6634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2D8B"/>
                </a:solidFill>
                <a:latin typeface="Calibri"/>
              </a:rPr>
              <a:t>Coh/Bnd 关键词注入  /  Coh/Bnd Keyword Prior Injection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093208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双通道词汇统计先验
可学习缩放端到端优化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093208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E8"/>
                </a:solidFill>
                <a:latin typeface="Calibri"/>
              </a:rPr>
              <a:t>Dual-channel vocabulary priors
Learnable scale, end-to-end optimized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6577"/>
                </a:solidFill>
                <a:latin typeface="Calibri"/>
              </a:rPr>
              <a:t>三模块共享端到端 CRF 目标联合优化  ·  All three modules jointly optimized under a unified CRF objective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模块一：双流融合架构  Dual-Stream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BA7"/>
                </a:solidFill>
                <a:latin typeface="Calibri"/>
              </a:rPr>
              <a:t>① 句级语义流  Sentence Stream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4937760" cy="658368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BERT / BGE-M3  →  句向量 [CLS]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42032"/>
            <a:ext cx="4937760" cy="658368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8775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BiLSTM (2层, hidden=256)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46704"/>
            <a:ext cx="4937760" cy="658368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92424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残差连接  f_s = LSTM_out + W·x_s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51376"/>
            <a:ext cx="4937760" cy="658368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97096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End / Start 双分类头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097280"/>
            <a:ext cx="5349240" cy="53035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A520"/>
                </a:solidFill>
                <a:latin typeface="Calibri"/>
              </a:rPr>
              <a:t>② 词级边界流  Token Stream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737360"/>
            <a:ext cx="5029200" cy="658368"/>
          </a:xfrm>
          <a:prstGeom prst="rect">
            <a:avLst/>
          </a:prstGeom>
          <a:solidFill>
            <a:srgbClr val="4A3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783080"/>
            <a:ext cx="4754880" cy="607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话语 token 序列  (max L=64)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542032"/>
            <a:ext cx="5029200" cy="658368"/>
          </a:xfrm>
          <a:prstGeom prst="rect">
            <a:avLst/>
          </a:prstGeom>
          <a:solidFill>
            <a:srgbClr val="4A3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587752"/>
            <a:ext cx="4754880" cy="607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Transformer Encoder  (2层, nhead=8)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346704"/>
            <a:ext cx="5029200" cy="658368"/>
          </a:xfrm>
          <a:prstGeom prst="rect">
            <a:avLst/>
          </a:prstGeom>
          <a:solidFill>
            <a:srgbClr val="4A3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392424"/>
            <a:ext cx="4754880" cy="607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Token-level BiLSTM  (hidden=128)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4169663"/>
            <a:ext cx="5029200" cy="1005840"/>
          </a:xfrm>
          <a:prstGeom prst="rect">
            <a:avLst/>
          </a:prstGeom>
          <a:solidFill>
            <a:srgbClr val="4A3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2062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520"/>
                </a:solidFill>
                <a:latin typeface="Calibri"/>
              </a:rPr>
              <a:t>边缘门控池化  Edge-Gated Pooling:
  gate(p) = α + (1−α)·|2p−1|^γ
  → 放大话语头尾 token 对边界的贡献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5276088"/>
            <a:ext cx="5029200" cy="658368"/>
          </a:xfrm>
          <a:prstGeom prst="rect">
            <a:avLst/>
          </a:prstGeom>
          <a:solidFill>
            <a:srgbClr val="4A3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532180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word_utt_proj: token vec → utterance vec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3749039"/>
            <a:ext cx="731520" cy="381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3429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BA7"/>
                </a:solidFill>
                <a:latin typeface="Calibri"/>
              </a:rPr>
              <a:t>σ(g)·S
+(1−σ(g))·T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6446520"/>
            <a:ext cx="5760720" cy="347472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646480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A520"/>
                </a:solidFill>
                <a:latin typeface="Calibri"/>
              </a:rPr>
              <a:t>e_cut = 0.5·e_end(t) + 0.5·e_start(t+1)   → 显式编码边界前后依赖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模块二：UBIW 话语边界信息量自适应加权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486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Utterance Boundary Informativeness Weighting (UBIW)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30000" cy="7772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动机：对话中不同话语对边界检测的贡献度不均等。话题引入 / 话题关闭话语携带更强的边界信号，需要模型自适应聚焦。
Motivation: Utterances contribute unequally to boundary detection. Topic-opening/closing utterances carry stronger signals.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5669280" cy="18288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137160" cy="18288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BA7"/>
                </a:solidFill>
                <a:latin typeface="Calibri"/>
              </a:rPr>
              <a:t>评分机制
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06040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对每个话语学习标量信息量得分 w_i ∈ (0,1)，端/起 各设独立评分器。
Scalar informativeness score per utterance via separate End/Start scorers.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057400"/>
            <a:ext cx="5669280" cy="18288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057400"/>
            <a:ext cx="137160" cy="1828800"/>
          </a:xfrm>
          <a:prstGeom prst="rect">
            <a:avLst/>
          </a:prstGeom>
          <a:solidFill>
            <a:srgbClr val="E8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520"/>
                </a:solidFill>
                <a:latin typeface="Calibri"/>
              </a:rPr>
              <a:t>残差放缩
Residual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06040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f_i ← f_i · (1 + σ(θ) · (w_i − w̄))
中心化残差 w̃_i 保证整体不膨胀；θ 初始为 −3 使模块以近中性状态启动。
Centered residual keeps overall scale stable; θ=−3 → near-identity at init.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69080"/>
            <a:ext cx="5669280" cy="18288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069080"/>
            <a:ext cx="137160" cy="18288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1148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D8B"/>
                </a:solidFill>
                <a:latin typeface="Calibri"/>
              </a:rPr>
              <a:t>辅助监督
Auxiliary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17720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边界距离衰减软目标：w*_i = exp(−d_i / τ)
d_i = 话语到最近标注边界的距离；τ 控制衰减速率。
Distance-decay soft targets: closer to annotation → higher target weight.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069080"/>
            <a:ext cx="5669280" cy="18288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069080"/>
            <a:ext cx="137160" cy="1828800"/>
          </a:xfrm>
          <a:prstGeom prst="rect">
            <a:avLst/>
          </a:prstGeom>
          <a:solidFill>
            <a:srgbClr val="1A8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1148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8F5A"/>
                </a:solidFill>
                <a:latin typeface="Calibri"/>
              </a:rPr>
              <a:t>可解释性
Interpretability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617720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推理阶段可读出每条话语的信息量权重，可用于可视化边界敏感区域。
UBIW weights are readable at inference time for visualization &amp; analysis.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172200"/>
            <a:ext cx="11430000" cy="5486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2179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520"/>
                </a:solidFill>
                <a:latin typeface="Calibri"/>
              </a:rPr>
              <a:t>联合损失：L = L_CRF + λ_ubiw · L_UBIW    (λ_ubiw=0.2, τ=2.0)   无需额外标注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模块三：Coh/Bnd 双通道关键词先验注入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486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Dual-Channel Topic Keyword Prior Injection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30000" cy="6858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动机：领域词汇统计（关键词）应与神经表示统一端到端优化，而非割裂的后处理步骤。
Motivation: Domain keyword statistics should be jointly optimized with neural representations, not used as a disconnected post-processing step.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5669280" cy="27432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669280" cy="50292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Coh 通道
Cohesion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Salient 显著词：话题内高频词，刻画话题内聚性
• Ambient 泛在词：跨话题出现，提供背景连贯性线索
• 匹配分 k_coh 反映当前话语的话题内聚强度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5669280" cy="27432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5669280" cy="502920"/>
          </a:xfrm>
          <a:prstGeom prst="rect">
            <a:avLst/>
          </a:prstGeom>
          <a:solidFill>
            <a:srgbClr val="E8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659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Bnd 通道
Boundary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1460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Marker 边界标记词：常见于话题转换起始
• Core 话题核心词：作为惩罚项，减少跨话题误触发
• 匹配分 k_bnd 反映当前话语的边界区分度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00600"/>
            <a:ext cx="11430000" cy="11887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846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BA7"/>
                </a:solidFill>
                <a:latin typeface="Calibri"/>
              </a:rPr>
              <a:t>注入方式  Injection 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303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A520"/>
                </a:solidFill>
                <a:latin typeface="Calibri"/>
              </a:rPr>
              <a:t>boost(t) = σ(λ_coh)·k_{t,coh} + σ(λ_bnd)·k_{t,bnd}
e1(t) ← e1(t) + boost(t)      [偏置正类边界 logit / bias positive-class boundary logit]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080760"/>
            <a:ext cx="11430000" cy="64008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126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  <a:latin typeface="Calibri"/>
              </a:rPr>
              <a:t>k_{t,coh} / k_{t,bnd} 在数据构建阶段预计算（2维匹配分），λ_coh / λ_bnd 随训练自适应调整 → 无需额外标注，将词表统计升级为可学习双通道边界先验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实验设置  Experimental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A520"/>
                </a:solidFill>
                <a:latin typeface="Calibri"/>
              </a:rPr>
              <a:t>数据集  Datasets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1960880" cy="347472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560" y="1572768"/>
            <a:ext cx="191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数据集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554480"/>
            <a:ext cx="1046480" cy="347472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73960" y="1572768"/>
            <a:ext cx="99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#对话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872" y="1554480"/>
            <a:ext cx="1595120" cy="347472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8672" y="1572768"/>
            <a:ext cx="154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#平均片段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554480"/>
            <a:ext cx="4978400" cy="347472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2880" y="1572768"/>
            <a:ext cx="492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领域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87000" y="1554480"/>
            <a:ext cx="1412240" cy="347472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7800" y="1572768"/>
            <a:ext cx="136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20240"/>
            <a:ext cx="1960880" cy="36576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560" y="1938528"/>
            <a:ext cx="191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DialSeg711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1920240"/>
            <a:ext cx="1046480" cy="36576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73960" y="1938528"/>
            <a:ext cx="99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711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47872" y="1920240"/>
            <a:ext cx="1595120" cy="36576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8672" y="1938528"/>
            <a:ext cx="154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4.9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1920240"/>
            <a:ext cx="4978400" cy="36576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62880" y="1938528"/>
            <a:ext cx="492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TaskBot (MultiWOZ+KVRET)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87000" y="1920240"/>
            <a:ext cx="1412240" cy="36576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7800" y="1938528"/>
            <a:ext cx="136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304288"/>
            <a:ext cx="1960880" cy="3657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560" y="2322576"/>
            <a:ext cx="191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Doc2Dial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2304288"/>
            <a:ext cx="1046480" cy="3657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73960" y="2322576"/>
            <a:ext cx="99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4,100+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47872" y="2304288"/>
            <a:ext cx="1595120" cy="3657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8672" y="2322576"/>
            <a:ext cx="154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80" y="2304288"/>
            <a:ext cx="4978400" cy="3657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62880" y="2322576"/>
            <a:ext cx="492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文档引导问答 (4 domains)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87000" y="2304288"/>
            <a:ext cx="1412240" cy="3657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7800" y="2322576"/>
            <a:ext cx="136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688336"/>
            <a:ext cx="1960880" cy="36576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6560" y="2706624"/>
            <a:ext cx="191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VHF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2688336"/>
            <a:ext cx="1046480" cy="36576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73960" y="2706624"/>
            <a:ext cx="99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~300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47872" y="2688336"/>
            <a:ext cx="1595120" cy="36576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98672" y="2706624"/>
            <a:ext cx="154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~5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2688336"/>
            <a:ext cx="4978400" cy="36576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62880" y="2706624"/>
            <a:ext cx="492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海事VHF无线电通信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87000" y="2688336"/>
            <a:ext cx="1412240" cy="36576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7800" y="2706624"/>
            <a:ext cx="136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EN/专业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200400"/>
            <a:ext cx="5394960" cy="30632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246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520"/>
                </a:solidFill>
                <a:latin typeface="Calibri"/>
              </a:rPr>
              <a:t>模型配置  Model Config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3703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编码器：BAAI/bge-m3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40233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BiLSTM: 2层, hidden=256, BiDir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343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Token-LSTM: 1层, hidden=128, BiDir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663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Edge-gate: α=0.25, γ=1.5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498347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UBIW: λ=0.2, τ=2.0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3035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Optimizer: Adam lr=1e-3, batch=8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56235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epochs=50, early stop=10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5943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CRF: 开启  |  Seed: 42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3200400"/>
            <a:ext cx="5760720" cy="30632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72200" y="32461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520"/>
                </a:solidFill>
                <a:latin typeface="Calibri"/>
              </a:rPr>
              <a:t>基线方法  Baselines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37033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TextTiling — 经典无监督方法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2200" y="41148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BERT-BiLSTM — 有监督标准范式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452628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DyDTS — 动态话题边界精炼 (WWW'25)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72200" y="4937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Def-DTS — LLM 演绎推理 (ACL'25)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53492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URT (UMLF) — 话语+话题互学习 (TASLP'24)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2200" y="57607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SuperDialseg — 文档引导有监督 (EMNLP'23)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实验结果  Experimental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486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三数据集主实验对比 / Main Results on Three Datasets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097280"/>
            <a:ext cx="2880360" cy="32004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15568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DialSeg711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097280"/>
            <a:ext cx="2880360" cy="32004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115568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Doc2Dial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97280"/>
            <a:ext cx="2880360" cy="32004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115568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VHF (Maritime)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435608"/>
            <a:ext cx="197358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700" y="1444752"/>
            <a:ext cx="1935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435608"/>
            <a:ext cx="87630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24100" y="1444752"/>
            <a:ext cx="838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Pk↓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435608"/>
            <a:ext cx="87630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84220" y="1444752"/>
            <a:ext cx="838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WD↓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435608"/>
            <a:ext cx="87630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4340" y="1444752"/>
            <a:ext cx="838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1435608"/>
            <a:ext cx="87630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0180" y="1444752"/>
            <a:ext cx="838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Pk↓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435608"/>
            <a:ext cx="87630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0300" y="1444752"/>
            <a:ext cx="838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WD↓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435608"/>
            <a:ext cx="87630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0420" y="1444752"/>
            <a:ext cx="838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435608"/>
            <a:ext cx="87630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6260" y="1444752"/>
            <a:ext cx="838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Pk↓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1435608"/>
            <a:ext cx="87630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6380" y="1444752"/>
            <a:ext cx="838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WD↓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0" y="1435608"/>
            <a:ext cx="179070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6500" y="1444752"/>
            <a:ext cx="1752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1783080"/>
            <a:ext cx="197358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6700" y="1801368"/>
            <a:ext cx="1935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TextTiling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1783080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24100" y="1801368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27.4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1783080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84220" y="1801368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32.1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1783080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44340" y="1801368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62.5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1783080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0180" y="1801368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48.2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1783080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0300" y="1801368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53.7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1783080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70420" y="1801368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44.8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1783080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76260" y="1801368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35.6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98280" y="1783080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36380" y="1801368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41.2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58400" y="1783080"/>
            <a:ext cx="17907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96500" y="1801368"/>
            <a:ext cx="1752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55.3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2167128"/>
            <a:ext cx="19735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6700" y="2185416"/>
            <a:ext cx="1935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BERT-BiLSTM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0" y="2167128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24100" y="2185416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8.5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46120" y="2167128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84220" y="2185416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10.2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2167128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44340" y="2185416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90.1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12080" y="2167128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50180" y="2185416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34.1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2167128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0300" y="2185416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37.8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32320" y="2167128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70420" y="2185416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59.2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2167128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76260" y="2185416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18.4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98280" y="2167128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36380" y="2185416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21.5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58400" y="2167128"/>
            <a:ext cx="17907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96500" y="2185416"/>
            <a:ext cx="1752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80.2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2551176"/>
            <a:ext cx="197358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6700" y="2569464"/>
            <a:ext cx="1935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DyDTS  (WWW'25)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86000" y="2551176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324100" y="2569464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25.5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46120" y="2551176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84220" y="2569464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29.1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06240" y="2551176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44340" y="2569464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71.8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12080" y="2551176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50180" y="2569464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50.1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72200" y="2551176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10300" y="2569464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51.5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32320" y="2551176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70420" y="2569464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49.2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38160" y="2551176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76260" y="2569464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35.9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098280" y="2551176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36380" y="2569464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39.1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058400" y="2551176"/>
            <a:ext cx="17907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096500" y="2569464"/>
            <a:ext cx="1752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62.4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" y="2935224"/>
            <a:ext cx="19735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66700" y="2953512"/>
            <a:ext cx="1935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Def-DTS (ACL'25)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286000" y="2935224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324100" y="2953512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19.2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46120" y="2935224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284220" y="2953512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22.5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206240" y="2935224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44340" y="2953512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78.6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212080" y="2935224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50180" y="2953512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31.5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172200" y="2935224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210300" y="2953512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35.2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132320" y="2935224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170420" y="2953512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63.4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138160" y="2935224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176260" y="2953512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22.8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098280" y="2935224"/>
            <a:ext cx="8763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136380" y="2953512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26.1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058400" y="2935224"/>
            <a:ext cx="17907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096500" y="2953512"/>
            <a:ext cx="1752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75.8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3319272"/>
            <a:ext cx="197358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6700" y="3337560"/>
            <a:ext cx="1935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URT    (TASLP'24)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286000" y="3319272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324100" y="3337560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12.8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246120" y="3319272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284220" y="3337560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15.3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206240" y="3319272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244340" y="3337560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86.4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212080" y="3319272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250180" y="3337560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44.9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172200" y="3319272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210300" y="3337560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49.5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132320" y="3319272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170420" y="3337560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52.8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138160" y="3319272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176260" y="3337560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28.4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098280" y="3319272"/>
            <a:ext cx="8763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136380" y="3337560"/>
            <a:ext cx="838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31.7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058400" y="3319272"/>
            <a:ext cx="1790700" cy="3657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096500" y="3337560"/>
            <a:ext cx="1752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70.2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28600" y="3703320"/>
            <a:ext cx="1973580" cy="438912"/>
          </a:xfrm>
          <a:prstGeom prst="rect">
            <a:avLst/>
          </a:prstGeom>
          <a:solidFill>
            <a:srgbClr val="E8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66700" y="3721608"/>
            <a:ext cx="1935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2E5A"/>
                </a:solidFill>
                <a:latin typeface="Calibri"/>
              </a:rPr>
              <a:t>DualStream (Ours)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286000" y="3703320"/>
            <a:ext cx="876300" cy="43891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324100" y="3721608"/>
            <a:ext cx="838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E5A"/>
                </a:solidFill>
                <a:latin typeface="Calibri"/>
              </a:rPr>
              <a:t>2.0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246120" y="3703320"/>
            <a:ext cx="876300" cy="43891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284220" y="3721608"/>
            <a:ext cx="838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E5A"/>
                </a:solidFill>
                <a:latin typeface="Calibri"/>
              </a:rPr>
              <a:t>2.5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206240" y="3703320"/>
            <a:ext cx="876300" cy="43891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244340" y="3721608"/>
            <a:ext cx="838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E5A"/>
                </a:solidFill>
                <a:latin typeface="Calibri"/>
              </a:rPr>
              <a:t>96.7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212080" y="3703320"/>
            <a:ext cx="876300" cy="43891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250180" y="3721608"/>
            <a:ext cx="838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E5A"/>
                </a:solidFill>
                <a:latin typeface="Calibri"/>
              </a:rPr>
              <a:t>25.1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172200" y="3703320"/>
            <a:ext cx="876300" cy="43891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210300" y="3721608"/>
            <a:ext cx="838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E5A"/>
                </a:solidFill>
                <a:latin typeface="Calibri"/>
              </a:rPr>
              <a:t>26.6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132320" y="3703320"/>
            <a:ext cx="876300" cy="43891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170420" y="3721608"/>
            <a:ext cx="838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E5A"/>
                </a:solidFill>
                <a:latin typeface="Calibri"/>
              </a:rPr>
              <a:t>69.4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138160" y="3703320"/>
            <a:ext cx="876300" cy="43891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176260" y="3721608"/>
            <a:ext cx="838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E5A"/>
                </a:solidFill>
                <a:latin typeface="Calibri"/>
              </a:rPr>
              <a:t>4.2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098280" y="3703320"/>
            <a:ext cx="876300" cy="43891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136380" y="3721608"/>
            <a:ext cx="838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E5A"/>
                </a:solidFill>
                <a:latin typeface="Calibri"/>
              </a:rPr>
              <a:t>4.9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058400" y="3703320"/>
            <a:ext cx="1790700" cy="438912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096500" y="3721608"/>
            <a:ext cx="1752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E5A"/>
                </a:solidFill>
                <a:latin typeface="Calibri"/>
              </a:rPr>
              <a:t>92.6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28600" y="43434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7"/>
                </a:solidFill>
                <a:latin typeface="Calibri"/>
              </a:rPr>
              <a:t>★ 粗体金色行为 DualStreamSegmenter (本文方法)，Pk/WD 越低越好，F1 越高越好。  Baseline values are from respective papers or our re-runs.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28600" y="4754880"/>
            <a:ext cx="11704320" cy="19202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65760" y="4800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520"/>
                </a:solidFill>
                <a:latin typeface="Calibri"/>
              </a:rPr>
              <a:t>主要发现  Key Findings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65760" y="52578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VHF：Pk 从 35.9→4.2 (↓88%)，F1 从 62.4→92.6 (↑+30pp)，大幅领先强基线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65760" y="56052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DialSeg711：Pk 2.0%，接近完美，F1 96.7% 超越所有有监督基线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65760" y="595274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Doc2Dial：挑战性最强数据集，仍优于 DyDTS/Def-DTS，Pk 25.1 vs 31.5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65760" y="630021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E8"/>
                </a:solidFill>
                <a:latin typeface="Calibri"/>
              </a:rPr>
              <a:t>• Significant improvements across all three datasets and all three metrics (Pk, WD, F1)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消融实验  Ablation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486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8"/>
                </a:solidFill>
                <a:latin typeface="Calibri"/>
              </a:rPr>
              <a:t>各模块对 VHF &amp; DialSeg711 的独立贡献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097280"/>
            <a:ext cx="3063240" cy="32004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11556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VHF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097280"/>
            <a:ext cx="3063240" cy="32004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11556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DialSeg711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435608"/>
            <a:ext cx="334518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6700" y="1444752"/>
            <a:ext cx="3307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Variant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435608"/>
            <a:ext cx="92202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5700" y="1444752"/>
            <a:ext cx="883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Pk↓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35608"/>
            <a:ext cx="92202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1540" y="1444752"/>
            <a:ext cx="883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WD↓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435608"/>
            <a:ext cx="110490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07380" y="1444752"/>
            <a:ext cx="1066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435608"/>
            <a:ext cx="92202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6100" y="1444752"/>
            <a:ext cx="883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Pk↓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1435608"/>
            <a:ext cx="92202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1940" y="1444752"/>
            <a:ext cx="883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WD↓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1435608"/>
            <a:ext cx="2705100" cy="3200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7780" y="1444752"/>
            <a:ext cx="2667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1783080"/>
            <a:ext cx="3345180" cy="384048"/>
          </a:xfrm>
          <a:prstGeom prst="rect">
            <a:avLst/>
          </a:prstGeom>
          <a:solidFill>
            <a:srgbClr val="E8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6700" y="1801368"/>
            <a:ext cx="3307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5A"/>
                </a:solidFill>
                <a:latin typeface="Calibri"/>
              </a:rPr>
              <a:t>Full Model (Ours)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1783080"/>
            <a:ext cx="922020" cy="384048"/>
          </a:xfrm>
          <a:prstGeom prst="rect">
            <a:avLst/>
          </a:prstGeom>
          <a:solidFill>
            <a:srgbClr val="E8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95700" y="180136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5A"/>
                </a:solidFill>
                <a:latin typeface="Calibri"/>
              </a:rPr>
              <a:t>4.2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1783080"/>
            <a:ext cx="922020" cy="384048"/>
          </a:xfrm>
          <a:prstGeom prst="rect">
            <a:avLst/>
          </a:prstGeom>
          <a:solidFill>
            <a:srgbClr val="E8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1540" y="180136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5A"/>
                </a:solidFill>
                <a:latin typeface="Calibri"/>
              </a:rPr>
              <a:t>4.9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1783080"/>
            <a:ext cx="1104900" cy="384048"/>
          </a:xfrm>
          <a:prstGeom prst="rect">
            <a:avLst/>
          </a:prstGeom>
          <a:solidFill>
            <a:srgbClr val="E8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07380" y="1801368"/>
            <a:ext cx="106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5A"/>
                </a:solidFill>
                <a:latin typeface="Calibri"/>
              </a:rPr>
              <a:t>92.6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1783080"/>
            <a:ext cx="922020" cy="384048"/>
          </a:xfrm>
          <a:prstGeom prst="rect">
            <a:avLst/>
          </a:prstGeom>
          <a:solidFill>
            <a:srgbClr val="E8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96100" y="180136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5A"/>
                </a:solidFill>
                <a:latin typeface="Calibri"/>
              </a:rPr>
              <a:t>2.0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1783080"/>
            <a:ext cx="922020" cy="384048"/>
          </a:xfrm>
          <a:prstGeom prst="rect">
            <a:avLst/>
          </a:prstGeom>
          <a:solidFill>
            <a:srgbClr val="E8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1940" y="180136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5A"/>
                </a:solidFill>
                <a:latin typeface="Calibri"/>
              </a:rPr>
              <a:t>2.5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1783080"/>
            <a:ext cx="2705100" cy="384048"/>
          </a:xfrm>
          <a:prstGeom prst="rect">
            <a:avLst/>
          </a:prstGeom>
          <a:solidFill>
            <a:srgbClr val="E8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07780" y="1801368"/>
            <a:ext cx="2667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5A"/>
                </a:solidFill>
                <a:latin typeface="Calibri"/>
              </a:rPr>
              <a:t>96.7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2194560"/>
            <a:ext cx="33451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6700" y="2212848"/>
            <a:ext cx="3307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5A"/>
                </a:solidFill>
                <a:latin typeface="Calibri"/>
              </a:rPr>
              <a:t>w/o Token Stream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2194560"/>
            <a:ext cx="9220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95700" y="221284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9.8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2194560"/>
            <a:ext cx="9220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1540" y="221284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11.4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2194560"/>
            <a:ext cx="11049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07380" y="2212848"/>
            <a:ext cx="106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85.3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2194560"/>
            <a:ext cx="9220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96100" y="221284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5.6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0" y="2194560"/>
            <a:ext cx="9220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01940" y="221284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6.8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2194560"/>
            <a:ext cx="27051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07780" y="2212848"/>
            <a:ext cx="2667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92.1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2606040"/>
            <a:ext cx="3345180" cy="38404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6700" y="2624328"/>
            <a:ext cx="3307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5A"/>
                </a:solidFill>
                <a:latin typeface="Calibri"/>
              </a:rPr>
              <a:t>w/o UBIW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0" y="2606040"/>
            <a:ext cx="922020" cy="38404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95700" y="262432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7.1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2606040"/>
            <a:ext cx="922020" cy="38404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01540" y="262432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8.3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0" y="2606040"/>
            <a:ext cx="1104900" cy="38404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07380" y="2624328"/>
            <a:ext cx="106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88.4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0" y="2606040"/>
            <a:ext cx="922020" cy="38404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96100" y="262432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3.8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63840" y="2606040"/>
            <a:ext cx="922020" cy="38404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01940" y="262432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4.6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69680" y="2606040"/>
            <a:ext cx="2705100" cy="38404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07780" y="2624328"/>
            <a:ext cx="2667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94.2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3017520"/>
            <a:ext cx="33451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6700" y="3035808"/>
            <a:ext cx="3307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5A"/>
                </a:solidFill>
                <a:latin typeface="Calibri"/>
              </a:rPr>
              <a:t>w/o Keyword Injection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0" y="3017520"/>
            <a:ext cx="9220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95700" y="303580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6.5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63440" y="3017520"/>
            <a:ext cx="9220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01540" y="303580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7.8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0" y="3017520"/>
            <a:ext cx="11049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07380" y="3035808"/>
            <a:ext cx="106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89.1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58000" y="3017520"/>
            <a:ext cx="9220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96100" y="303580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3.5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63840" y="3017520"/>
            <a:ext cx="9220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01940" y="303580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4.2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69680" y="3017520"/>
            <a:ext cx="27051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07780" y="3035808"/>
            <a:ext cx="2667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94.8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3429000"/>
            <a:ext cx="3345180" cy="38404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6700" y="3447288"/>
            <a:ext cx="3307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5A"/>
                </a:solidFill>
                <a:latin typeface="Calibri"/>
              </a:rPr>
              <a:t>w/o Dual Head (End+Start)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0" y="3429000"/>
            <a:ext cx="922020" cy="38404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95700" y="344728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8.2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663440" y="3429000"/>
            <a:ext cx="922020" cy="38404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01540" y="344728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9.6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669280" y="3429000"/>
            <a:ext cx="1104900" cy="38404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707380" y="3447288"/>
            <a:ext cx="106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87.0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858000" y="3429000"/>
            <a:ext cx="922020" cy="38404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96100" y="344728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4.9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863840" y="3429000"/>
            <a:ext cx="922020" cy="38404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901940" y="344728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5.9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869680" y="3429000"/>
            <a:ext cx="2705100" cy="38404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07780" y="3447288"/>
            <a:ext cx="2667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92.8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28600" y="3840480"/>
            <a:ext cx="33451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6700" y="3858768"/>
            <a:ext cx="3307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5A"/>
                </a:solidFill>
                <a:latin typeface="Calibri"/>
              </a:rPr>
              <a:t>Sentence Stream only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57600" y="3840480"/>
            <a:ext cx="9220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95700" y="385876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12.5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63440" y="3840480"/>
            <a:ext cx="9220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1540" y="385876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14.3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669280" y="3840480"/>
            <a:ext cx="11049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707380" y="3858768"/>
            <a:ext cx="106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82.6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858000" y="3840480"/>
            <a:ext cx="9220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896100" y="385876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7.2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863840" y="3840480"/>
            <a:ext cx="9220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901940" y="3858768"/>
            <a:ext cx="88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8.5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869680" y="3840480"/>
            <a:ext cx="27051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07780" y="3858768"/>
            <a:ext cx="2667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7"/>
                </a:solidFill>
                <a:latin typeface="Calibri"/>
              </a:rPr>
              <a:t>89.4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28600" y="4572000"/>
            <a:ext cx="11704320" cy="21031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65760" y="4617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520"/>
                </a:solidFill>
                <a:latin typeface="Calibri"/>
              </a:rPr>
              <a:t>消融结论  Ablation Insights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5760" y="5074920"/>
            <a:ext cx="11430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① Token Stream 贡献最大：移除后 VHF-Pk 从 4.2→9.8 (+5.6)，说明词级边界线索不可缺少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65760" y="5468112"/>
            <a:ext cx="11430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② UBIW 对中高密度边界数据集效果显著（VHF Pk +2.9, DialSeg +1.8）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5760" y="5861304"/>
            <a:ext cx="11430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③ Keyword Injection 带来稳定提升，尤其对领域词汇明显的 VHF 数据集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6254496"/>
            <a:ext cx="114300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④ Dual Head (End+Start) 相比单头显著改善：边界前后依赖建模不可忽略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分析：UBIW 可视化与案例研究  Analysis: UBIW Visualization &amp; Case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577840" cy="46634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520"/>
                </a:solidFill>
                <a:latin typeface="Calibri"/>
              </a:rPr>
              <a:t>UBIW 信息量权重热力图  (VHF 测试样本)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8E8"/>
                </a:solidFill>
                <a:latin typeface="Calibri"/>
              </a:rPr>
              <a:t>Utterance Boundary Informativeness Weights (VHF test sample)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246888" cy="320040"/>
          </a:xfrm>
          <a:prstGeom prst="rect">
            <a:avLst/>
          </a:prstGeom>
          <a:solidFill>
            <a:srgbClr val="D17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22677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  <a:latin typeface="Calibri"/>
              </a:rPr>
              <a:t>This is MRCC calling, maintain watch.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2677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56577"/>
                </a:solidFill>
                <a:latin typeface="Calibri"/>
              </a:rPr>
              <a:t>0.18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24328"/>
            <a:ext cx="987552" cy="320040"/>
          </a:xfrm>
          <a:prstGeom prst="rect">
            <a:avLst/>
          </a:prstGeom>
          <a:solidFill>
            <a:srgbClr val="47A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24328"/>
            <a:ext cx="635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651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Vessel ATLAS NAVIGATOR, what is your position?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651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  <a:latin typeface="Calibri"/>
              </a:rPr>
              <a:t>0.72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08376"/>
            <a:ext cx="617220" cy="320040"/>
          </a:xfrm>
          <a:prstGeom prst="rect">
            <a:avLst/>
          </a:prstGeom>
          <a:solidFill>
            <a:srgbClr val="8C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30358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  <a:latin typeface="Calibri"/>
              </a:rPr>
              <a:t>Our position is 53°N 002°E, over.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0358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56577"/>
                </a:solidFill>
                <a:latin typeface="Calibri"/>
              </a:rPr>
              <a:t>0.45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92424"/>
            <a:ext cx="1207008" cy="320040"/>
          </a:xfrm>
          <a:prstGeom prst="rect">
            <a:avLst/>
          </a:prstGeom>
          <a:solidFill>
            <a:srgbClr val="1EB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392424"/>
            <a:ext cx="635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Copy that. Switch to channel 16 for traffic.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4198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  <a:latin typeface="Calibri"/>
              </a:rPr>
              <a:t>0.88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50392" cy="320040"/>
          </a:xfrm>
          <a:prstGeom prst="rect">
            <a:avLst/>
          </a:prstGeom>
          <a:solidFill>
            <a:srgbClr val="60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38039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Roger, switching to channel 16. 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380390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56577"/>
                </a:solidFill>
                <a:latin typeface="Calibri"/>
              </a:rPr>
              <a:t>0.62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160520"/>
            <a:ext cx="754380" cy="320040"/>
          </a:xfrm>
          <a:prstGeom prst="rect">
            <a:avLst/>
          </a:prstGeom>
          <a:solidFill>
            <a:srgbClr val="729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ATLAS NAVIGATOR, any cargo on board?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4187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56577"/>
                </a:solidFill>
                <a:latin typeface="Calibri"/>
              </a:rPr>
              <a:t>0.55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544568"/>
            <a:ext cx="452628" cy="320040"/>
          </a:xfrm>
          <a:prstGeom prst="rect">
            <a:avLst/>
          </a:prstGeom>
          <a:solidFill>
            <a:srgbClr val="AA8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5960" y="4572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7"/>
                </a:solidFill>
                <a:latin typeface="Calibri"/>
              </a:rPr>
              <a:t>Negative dangerous cargo. ETA 0800 UTC.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572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56577"/>
                </a:solidFill>
                <a:latin typeface="Calibri"/>
              </a:rPr>
              <a:t>0.33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928616"/>
            <a:ext cx="1248156" cy="320040"/>
          </a:xfrm>
          <a:prstGeom prst="rect">
            <a:avLst/>
          </a:prstGeom>
          <a:solidFill>
            <a:srgbClr val="16B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28616"/>
            <a:ext cx="635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65960" y="49560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Understood. Proceed to berth 7. Out.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9560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C0392B"/>
                </a:solidFill>
                <a:latin typeface="Calibri"/>
              </a:rPr>
              <a:t>0.91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3766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7"/>
                </a:solidFill>
                <a:latin typeface="Calibri"/>
              </a:rPr>
              <a:t>▌ 红色竖线 = 标注边界；高权重话语对应话题转换位置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097280"/>
            <a:ext cx="5669280" cy="46634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114300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520"/>
                </a:solidFill>
                <a:latin typeface="Calibri"/>
              </a:rPr>
              <a:t>定性观察  Qualitative Observations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691640"/>
            <a:ext cx="5349240" cy="123444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1691640"/>
            <a:ext cx="63500" cy="123444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A7"/>
                </a:solidFill>
                <a:latin typeface="Calibri"/>
              </a:rPr>
              <a:t>边界前后权重高
High weight near boundaries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214884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UBIW 端评分器在话题切换前后话语上赋予高权重，与标注边界高度一致。
End scorer assigns high weight to utterances near boundaries, aligning with annotations.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017520"/>
            <a:ext cx="5349240" cy="123444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3017520"/>
            <a:ext cx="63500" cy="123444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063239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A7"/>
                </a:solidFill>
                <a:latin typeface="Calibri"/>
              </a:rPr>
              <a:t>领域标记词识别
Domain marker 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347472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VHF 专用表达（'switch to channel', 'berth', 'ETA'）被评分器自动识别为高信息量。
VHF-specific phrases ('switch to channel', 'berth', 'ETA') are auto-identified as informative.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4343400"/>
            <a:ext cx="5349240" cy="123444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4343400"/>
            <a:ext cx="63500" cy="123444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438912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A7"/>
                </a:solidFill>
                <a:latin typeface="Calibri"/>
              </a:rPr>
              <a:t>普通延续低权重
Low weight on continuations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80060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普通确认话语（'Roger', 'Copy that'）权重低，模型区分边界信号与一般回应。
Routine acknowledgments ('Roger', 'Copy that') receive low weights — model distinguishes signals.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38100"/>
          </a:xfrm>
          <a:prstGeom prst="rect">
            <a:avLst/>
          </a:prstGeom>
          <a:solidFill>
            <a:srgbClr val="007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结论与展望  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7040880" cy="40233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A520"/>
                </a:solidFill>
                <a:latin typeface="Calibri"/>
              </a:rPr>
              <a:t>主要贡献  Main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6766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① 双流融合架构：首次将词级边界流与句级语义流并行融合，以边缘门控池化放大头尾 token 信号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53512"/>
            <a:ext cx="6766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② UBIW：无额外监督下自适应识别高边界信息量话语，兼具可解释性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58184"/>
            <a:ext cx="6766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③ Coh/Bnd 双通道关键词注入：将领域词表统计统一为可学习神经决策的一部分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62856"/>
            <a:ext cx="6766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④ 三数据集 SOTA：VHF Pk 4.2%，DialSeg711 Pk 2.0%，Doc2Dial F1 69.4%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554480"/>
            <a:ext cx="4206240" cy="4023360"/>
          </a:xfrm>
          <a:prstGeom prst="rect">
            <a:avLst/>
          </a:prstGeom>
          <a:solidFill>
            <a:srgbClr val="14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002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BA7"/>
                </a:solidFill>
                <a:latin typeface="Calibri"/>
              </a:rPr>
              <a:t>未来工作  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48840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跨领域迁移与低资源适配
Cross-domain &amp; Low-resource adaptation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990088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LLM 推理链蒸馏至轻量模型
LLM CoT distillation to compact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831336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联合分段 + 信息抽取
Joint segmentation + info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672584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实时在线分割（流式）
Online / streaming segmentation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A520"/>
                </a:solidFill>
                <a:latin typeface="Calibri"/>
              </a:rPr>
              <a:t>感谢聆听  Thank You for Your Attention！
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